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444" autoAdjust="0"/>
  </p:normalViewPr>
  <p:slideViewPr>
    <p:cSldViewPr snapToGrid="0" snapToObjects="1">
      <p:cViewPr varScale="1">
        <p:scale>
          <a:sx n="70" d="100"/>
          <a:sy n="70" d="100"/>
        </p:scale>
        <p:origin x="1138"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784193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1 · 0:00–0:30</a:t>
            </a:r>
          </a:p>
          <a:p>
            <a:r>
              <a:t>We're asking you to approve the 40 million for four regions: Najran 15.6, Northern Borders 8.7, Al-Baha 8.3, Jazan 7.4 million. Nationally Tayseer is already past 65%. These four are the ones still well short.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1 · 0:30–1:15</a:t>
            </a:r>
          </a:p>
          <a:p>
            <a:r>
              <a:t>Top is the KPI from our Tableau dashboard: 66.2% in December 2025. Below is the monthly trend, weighted by users. The dashed line is 65%. We crossed it in August 2025 and stayed above it. Hand over to the regions.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2 · 1:15–2:00</a:t>
            </a:r>
          </a:p>
          <a:p>
            <a:r>
              <a:t>This is the regional chart from the dashboard. Bars start at zero, sorted lowest first, the red line is 65%. Five regions are over it. Eight are under, in orange. Najran is the lowest at 60.9%.</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2 · 2:00–4:00</a:t>
            </a:r>
          </a:p>
          <a:p>
            <a:r>
              <a:t>Same Tableau chart, with the gap to 65% written next to each orange bar. Look at the top four: Najran 4.1 points short, Northern Borders 2.3, Al-Baha 2.2, Jazan 2.0. Then Asir, Tabuk, Hail and Al-Jouf, all under 0.7 points. So there are really two groups. Four regions with a real gap, and four that are almost there. If the first four reach 65%, the national rate goes up to about 66.8%. Next, three ways to split the money.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3 · 4:00–5:15</a:t>
            </a:r>
          </a:p>
          <a:p>
            <a:r>
              <a:t>Three ways to split the same 40 million. Same scale on all three. A gives each of the eight 5 million, so 20 million goes to regions that are almost there. B splits by gap across all eight. Better, but 5 million still goes to those four. C splits by gap across only the four furthest behind. Najran gets the most because its gap is the biggest.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3 · 5:15–6:15</a:t>
            </a:r>
          </a:p>
          <a:p>
            <a:r>
              <a:t>We recommend C. Najran 15.6, Northern Borders 8.7, Al-Baha 8.3, Jazan 7.4 million. Each region gets money in line with how far it has to go. A and B spend part of the budget on regions that are already within a point. If the four reach 65%, national adoption goes to about 66.8%. We don't know how many points each million buys, which is why we check in June.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3 · 6:15–7:00</a:t>
            </a:r>
          </a:p>
          <a:p>
            <a:r>
              <a:t>So we're asking you to approve Najran 15.6, Northern Borders 8.7, Al-Baha 8.3, Jazan 7.4 million today. In June we check the dashboard. Each region should have closed at least half of its gap. If one hasn't, we come back to you before more is spent there. Thank you, happy to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Only if asked.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1005840"/>
          </a:xfrm>
          <a:prstGeom prst="rect">
            <a:avLst/>
          </a:prstGeom>
          <a:noFill/>
        </p:spPr>
        <p:txBody>
          <a:bodyPr wrap="square">
            <a:spAutoFit/>
          </a:bodyPr>
          <a:lstStyle/>
          <a:p>
            <a:pPr algn="l">
              <a:spcAft>
                <a:spcPts val="600"/>
              </a:spcAft>
            </a:pPr>
            <a:r>
              <a:rPr sz="2600" b="1" dirty="0">
                <a:solidFill>
                  <a:srgbClr val="1C2833"/>
                </a:solidFill>
                <a:latin typeface="Calibri"/>
              </a:rPr>
              <a:t>Put the SAR 40 million into the four regions furthest below 65%.</a:t>
            </a:r>
          </a:p>
        </p:txBody>
      </p:sp>
      <p:sp>
        <p:nvSpPr>
          <p:cNvPr id="4" name="TextBox 3"/>
          <p:cNvSpPr txBox="1"/>
          <p:nvPr/>
        </p:nvSpPr>
        <p:spPr>
          <a:xfrm>
            <a:off x="10972800" y="6446520"/>
            <a:ext cx="822960" cy="274320"/>
          </a:xfrm>
          <a:prstGeom prst="rect">
            <a:avLst/>
          </a:prstGeom>
          <a:noFill/>
        </p:spPr>
        <p:txBody>
          <a:bodyPr wrap="square">
            <a:spAutoFit/>
          </a:bodyPr>
          <a:lstStyle/>
          <a:p>
            <a:pPr algn="r">
              <a:spcAft>
                <a:spcPts val="600"/>
              </a:spcAft>
            </a:pPr>
            <a:r>
              <a:rPr sz="1000" b="0">
                <a:solidFill>
                  <a:srgbClr val="5C6B73"/>
                </a:solidFill>
                <a:latin typeface="Calibri"/>
              </a:rPr>
              <a:t>1</a:t>
            </a:r>
          </a:p>
        </p:txBody>
      </p:sp>
      <p:sp>
        <p:nvSpPr>
          <p:cNvPr id="5" name="TextBox 4"/>
          <p:cNvSpPr txBox="1"/>
          <p:nvPr/>
        </p:nvSpPr>
        <p:spPr>
          <a:xfrm>
            <a:off x="457200" y="1463040"/>
            <a:ext cx="10972800" cy="365760"/>
          </a:xfrm>
          <a:prstGeom prst="rect">
            <a:avLst/>
          </a:prstGeom>
          <a:noFill/>
        </p:spPr>
        <p:txBody>
          <a:bodyPr wrap="square">
            <a:spAutoFit/>
          </a:bodyPr>
          <a:lstStyle/>
          <a:p>
            <a:pPr algn="l">
              <a:spcAft>
                <a:spcPts val="600"/>
              </a:spcAft>
            </a:pPr>
            <a:r>
              <a:rPr sz="1600" b="0">
                <a:solidFill>
                  <a:srgbClr val="5C6B73"/>
                </a:solidFill>
                <a:latin typeface="Calibri"/>
              </a:rPr>
              <a:t>We are asking you to approve:</a:t>
            </a:r>
          </a:p>
        </p:txBody>
      </p:sp>
      <p:sp>
        <p:nvSpPr>
          <p:cNvPr id="6" name="Rectangle 5"/>
          <p:cNvSpPr/>
          <p:nvPr/>
        </p:nvSpPr>
        <p:spPr>
          <a:xfrm>
            <a:off x="457200" y="1965960"/>
            <a:ext cx="2697480" cy="1600200"/>
          </a:xfrm>
          <a:prstGeom prst="rect">
            <a:avLst/>
          </a:prstGeom>
          <a:solidFill>
            <a:srgbClr val="FD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103120"/>
            <a:ext cx="2377440" cy="365760"/>
          </a:xfrm>
          <a:prstGeom prst="rect">
            <a:avLst/>
          </a:prstGeom>
          <a:noFill/>
        </p:spPr>
        <p:txBody>
          <a:bodyPr wrap="square">
            <a:spAutoFit/>
          </a:bodyPr>
          <a:lstStyle/>
          <a:p>
            <a:pPr algn="l">
              <a:spcAft>
                <a:spcPts val="600"/>
              </a:spcAft>
            </a:pPr>
            <a:r>
              <a:rPr sz="1500" b="1">
                <a:solidFill>
                  <a:srgbClr val="F28E2B"/>
                </a:solidFill>
                <a:latin typeface="Calibri"/>
              </a:rPr>
              <a:t>Najran</a:t>
            </a:r>
          </a:p>
        </p:txBody>
      </p:sp>
      <p:sp>
        <p:nvSpPr>
          <p:cNvPr id="8" name="TextBox 7"/>
          <p:cNvSpPr txBox="1"/>
          <p:nvPr/>
        </p:nvSpPr>
        <p:spPr>
          <a:xfrm>
            <a:off x="640080" y="2514600"/>
            <a:ext cx="2377440" cy="548640"/>
          </a:xfrm>
          <a:prstGeom prst="rect">
            <a:avLst/>
          </a:prstGeom>
          <a:noFill/>
        </p:spPr>
        <p:txBody>
          <a:bodyPr wrap="square">
            <a:spAutoFit/>
          </a:bodyPr>
          <a:lstStyle/>
          <a:p>
            <a:pPr algn="l">
              <a:spcAft>
                <a:spcPts val="600"/>
              </a:spcAft>
            </a:pPr>
            <a:r>
              <a:rPr sz="2800" b="1">
                <a:solidFill>
                  <a:srgbClr val="1C2833"/>
                </a:solidFill>
                <a:latin typeface="Calibri"/>
              </a:rPr>
              <a:t>SAR 15.6M</a:t>
            </a:r>
          </a:p>
        </p:txBody>
      </p:sp>
      <p:sp>
        <p:nvSpPr>
          <p:cNvPr id="9" name="Rectangle 8"/>
          <p:cNvSpPr/>
          <p:nvPr/>
        </p:nvSpPr>
        <p:spPr>
          <a:xfrm>
            <a:off x="3291840" y="1965960"/>
            <a:ext cx="2697480" cy="1600200"/>
          </a:xfrm>
          <a:prstGeom prst="rect">
            <a:avLst/>
          </a:prstGeom>
          <a:solidFill>
            <a:srgbClr val="FD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0" y="2103120"/>
            <a:ext cx="2377440" cy="365760"/>
          </a:xfrm>
          <a:prstGeom prst="rect">
            <a:avLst/>
          </a:prstGeom>
          <a:noFill/>
        </p:spPr>
        <p:txBody>
          <a:bodyPr wrap="square">
            <a:spAutoFit/>
          </a:bodyPr>
          <a:lstStyle/>
          <a:p>
            <a:pPr algn="l">
              <a:spcAft>
                <a:spcPts val="600"/>
              </a:spcAft>
            </a:pPr>
            <a:r>
              <a:rPr sz="1500" b="1">
                <a:solidFill>
                  <a:srgbClr val="F28E2B"/>
                </a:solidFill>
                <a:latin typeface="Calibri"/>
              </a:rPr>
              <a:t>Northern Borders</a:t>
            </a:r>
          </a:p>
        </p:txBody>
      </p:sp>
      <p:sp>
        <p:nvSpPr>
          <p:cNvPr id="11" name="TextBox 10"/>
          <p:cNvSpPr txBox="1"/>
          <p:nvPr/>
        </p:nvSpPr>
        <p:spPr>
          <a:xfrm>
            <a:off x="3474720" y="2514600"/>
            <a:ext cx="2377440" cy="548640"/>
          </a:xfrm>
          <a:prstGeom prst="rect">
            <a:avLst/>
          </a:prstGeom>
          <a:noFill/>
        </p:spPr>
        <p:txBody>
          <a:bodyPr wrap="square">
            <a:spAutoFit/>
          </a:bodyPr>
          <a:lstStyle/>
          <a:p>
            <a:pPr algn="l">
              <a:spcAft>
                <a:spcPts val="600"/>
              </a:spcAft>
            </a:pPr>
            <a:r>
              <a:rPr sz="2800" b="1">
                <a:solidFill>
                  <a:srgbClr val="1C2833"/>
                </a:solidFill>
                <a:latin typeface="Calibri"/>
              </a:rPr>
              <a:t>SAR 8.7M</a:t>
            </a:r>
          </a:p>
        </p:txBody>
      </p:sp>
      <p:sp>
        <p:nvSpPr>
          <p:cNvPr id="12" name="Rectangle 11"/>
          <p:cNvSpPr/>
          <p:nvPr/>
        </p:nvSpPr>
        <p:spPr>
          <a:xfrm>
            <a:off x="6126480" y="1965960"/>
            <a:ext cx="2697480" cy="1600200"/>
          </a:xfrm>
          <a:prstGeom prst="rect">
            <a:avLst/>
          </a:prstGeom>
          <a:solidFill>
            <a:srgbClr val="FD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09360" y="2103120"/>
            <a:ext cx="2377440" cy="365760"/>
          </a:xfrm>
          <a:prstGeom prst="rect">
            <a:avLst/>
          </a:prstGeom>
          <a:noFill/>
        </p:spPr>
        <p:txBody>
          <a:bodyPr wrap="square">
            <a:spAutoFit/>
          </a:bodyPr>
          <a:lstStyle/>
          <a:p>
            <a:pPr algn="l">
              <a:spcAft>
                <a:spcPts val="600"/>
              </a:spcAft>
            </a:pPr>
            <a:r>
              <a:rPr sz="1500" b="1">
                <a:solidFill>
                  <a:srgbClr val="F28E2B"/>
                </a:solidFill>
                <a:latin typeface="Calibri"/>
              </a:rPr>
              <a:t>Al-Baha</a:t>
            </a:r>
          </a:p>
        </p:txBody>
      </p:sp>
      <p:sp>
        <p:nvSpPr>
          <p:cNvPr id="14" name="TextBox 13"/>
          <p:cNvSpPr txBox="1"/>
          <p:nvPr/>
        </p:nvSpPr>
        <p:spPr>
          <a:xfrm>
            <a:off x="6309360" y="2514600"/>
            <a:ext cx="2377440" cy="548640"/>
          </a:xfrm>
          <a:prstGeom prst="rect">
            <a:avLst/>
          </a:prstGeom>
          <a:noFill/>
        </p:spPr>
        <p:txBody>
          <a:bodyPr wrap="square">
            <a:spAutoFit/>
          </a:bodyPr>
          <a:lstStyle/>
          <a:p>
            <a:pPr algn="l">
              <a:spcAft>
                <a:spcPts val="600"/>
              </a:spcAft>
            </a:pPr>
            <a:r>
              <a:rPr sz="2800" b="1">
                <a:solidFill>
                  <a:srgbClr val="1C2833"/>
                </a:solidFill>
                <a:latin typeface="Calibri"/>
              </a:rPr>
              <a:t>SAR 8.3M</a:t>
            </a:r>
          </a:p>
        </p:txBody>
      </p:sp>
      <p:sp>
        <p:nvSpPr>
          <p:cNvPr id="15" name="Rectangle 14"/>
          <p:cNvSpPr/>
          <p:nvPr/>
        </p:nvSpPr>
        <p:spPr>
          <a:xfrm>
            <a:off x="8961120" y="1965960"/>
            <a:ext cx="2697480" cy="1600200"/>
          </a:xfrm>
          <a:prstGeom prst="rect">
            <a:avLst/>
          </a:prstGeom>
          <a:solidFill>
            <a:srgbClr val="FD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0" y="2103120"/>
            <a:ext cx="2377440" cy="365760"/>
          </a:xfrm>
          <a:prstGeom prst="rect">
            <a:avLst/>
          </a:prstGeom>
          <a:noFill/>
        </p:spPr>
        <p:txBody>
          <a:bodyPr wrap="square">
            <a:spAutoFit/>
          </a:bodyPr>
          <a:lstStyle/>
          <a:p>
            <a:pPr algn="l">
              <a:spcAft>
                <a:spcPts val="600"/>
              </a:spcAft>
            </a:pPr>
            <a:r>
              <a:rPr sz="1500" b="1">
                <a:solidFill>
                  <a:srgbClr val="F28E2B"/>
                </a:solidFill>
                <a:latin typeface="Calibri"/>
              </a:rPr>
              <a:t>Jazan</a:t>
            </a:r>
          </a:p>
        </p:txBody>
      </p:sp>
      <p:sp>
        <p:nvSpPr>
          <p:cNvPr id="17" name="TextBox 16"/>
          <p:cNvSpPr txBox="1"/>
          <p:nvPr/>
        </p:nvSpPr>
        <p:spPr>
          <a:xfrm>
            <a:off x="9144000" y="2514600"/>
            <a:ext cx="2377440" cy="548640"/>
          </a:xfrm>
          <a:prstGeom prst="rect">
            <a:avLst/>
          </a:prstGeom>
          <a:noFill/>
        </p:spPr>
        <p:txBody>
          <a:bodyPr wrap="square">
            <a:spAutoFit/>
          </a:bodyPr>
          <a:lstStyle/>
          <a:p>
            <a:pPr algn="l">
              <a:spcAft>
                <a:spcPts val="600"/>
              </a:spcAft>
            </a:pPr>
            <a:r>
              <a:rPr sz="2800" b="1">
                <a:solidFill>
                  <a:srgbClr val="1C2833"/>
                </a:solidFill>
                <a:latin typeface="Calibri"/>
              </a:rPr>
              <a:t>SAR 7.4M</a:t>
            </a:r>
          </a:p>
        </p:txBody>
      </p:sp>
      <p:sp>
        <p:nvSpPr>
          <p:cNvPr id="18" name="TextBox 17"/>
          <p:cNvSpPr txBox="1"/>
          <p:nvPr/>
        </p:nvSpPr>
        <p:spPr>
          <a:xfrm>
            <a:off x="457200" y="3977639"/>
            <a:ext cx="11247120" cy="914400"/>
          </a:xfrm>
          <a:prstGeom prst="rect">
            <a:avLst/>
          </a:prstGeom>
          <a:noFill/>
        </p:spPr>
        <p:txBody>
          <a:bodyPr wrap="square">
            <a:spAutoFit/>
          </a:bodyPr>
          <a:lstStyle/>
          <a:p>
            <a:pPr algn="l">
              <a:spcAft>
                <a:spcPts val="600"/>
              </a:spcAft>
            </a:pPr>
            <a:r>
              <a:rPr sz="1800" b="0">
                <a:solidFill>
                  <a:srgbClr val="1C2833"/>
                </a:solidFill>
                <a:latin typeface="Calibri"/>
              </a:rPr>
              <a:t>Nationally we are already past 65%. These four are still 2 to 4 points short. The other four regions below target are less than a point away.</a:t>
            </a:r>
          </a:p>
        </p:txBody>
      </p:sp>
      <p:sp>
        <p:nvSpPr>
          <p:cNvPr id="19" name="TextBox 18"/>
          <p:cNvSpPr txBox="1"/>
          <p:nvPr/>
        </p:nvSpPr>
        <p:spPr>
          <a:xfrm>
            <a:off x="457200" y="4937760"/>
            <a:ext cx="11247120" cy="457200"/>
          </a:xfrm>
          <a:prstGeom prst="rect">
            <a:avLst/>
          </a:prstGeom>
          <a:noFill/>
        </p:spPr>
        <p:txBody>
          <a:bodyPr wrap="square">
            <a:spAutoFit/>
          </a:bodyPr>
          <a:lstStyle/>
          <a:p>
            <a:pPr algn="l">
              <a:spcAft>
                <a:spcPts val="600"/>
              </a:spcAft>
            </a:pPr>
            <a:r>
              <a:rPr sz="1500" b="0">
                <a:solidFill>
                  <a:srgbClr val="5C6B73"/>
                </a:solidFill>
                <a:latin typeface="Calibri"/>
              </a:rPr>
              <a:t>Split by the size of each region's gap. Checked on the dashboard in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1005840"/>
          </a:xfrm>
          <a:prstGeom prst="rect">
            <a:avLst/>
          </a:prstGeom>
          <a:noFill/>
        </p:spPr>
        <p:txBody>
          <a:bodyPr wrap="square">
            <a:spAutoFit/>
          </a:bodyPr>
          <a:lstStyle/>
          <a:p>
            <a:pPr algn="l">
              <a:spcAft>
                <a:spcPts val="600"/>
              </a:spcAft>
            </a:pPr>
            <a:r>
              <a:rPr sz="2600" b="1">
                <a:solidFill>
                  <a:srgbClr val="1C2833"/>
                </a:solidFill>
                <a:latin typeface="Calibri"/>
              </a:rPr>
              <a:t>Nationally, Tayseer passed the 65% target in 2025.</a:t>
            </a:r>
          </a:p>
        </p:txBody>
      </p:sp>
      <p:sp>
        <p:nvSpPr>
          <p:cNvPr id="4" name="TextBox 3"/>
          <p:cNvSpPr txBox="1"/>
          <p:nvPr/>
        </p:nvSpPr>
        <p:spPr>
          <a:xfrm>
            <a:off x="10972800" y="6446520"/>
            <a:ext cx="822960" cy="274320"/>
          </a:xfrm>
          <a:prstGeom prst="rect">
            <a:avLst/>
          </a:prstGeom>
          <a:noFill/>
        </p:spPr>
        <p:txBody>
          <a:bodyPr wrap="square">
            <a:spAutoFit/>
          </a:bodyPr>
          <a:lstStyle/>
          <a:p>
            <a:pPr algn="r">
              <a:spcAft>
                <a:spcPts val="600"/>
              </a:spcAft>
            </a:pPr>
            <a:r>
              <a:rPr sz="1000" b="0">
                <a:solidFill>
                  <a:srgbClr val="5C6B73"/>
                </a:solidFill>
                <a:latin typeface="Calibri"/>
              </a:rPr>
              <a:t>2</a:t>
            </a:r>
          </a:p>
        </p:txBody>
      </p:sp>
      <p:pic>
        <p:nvPicPr>
          <p:cNvPr id="5" name="Picture 4" descr="KPI.png"/>
          <p:cNvPicPr>
            <a:picLocks noChangeAspect="1"/>
          </p:cNvPicPr>
          <p:nvPr/>
        </p:nvPicPr>
        <p:blipFill>
          <a:blip r:embed="rId3"/>
          <a:stretch>
            <a:fillRect/>
          </a:stretch>
        </p:blipFill>
        <p:spPr>
          <a:xfrm>
            <a:off x="457200" y="1325880"/>
            <a:ext cx="11247120" cy="934171"/>
          </a:xfrm>
          <a:prstGeom prst="rect">
            <a:avLst/>
          </a:prstGeom>
        </p:spPr>
      </p:pic>
      <p:pic>
        <p:nvPicPr>
          <p:cNvPr id="6" name="Picture 5" descr="trend.png"/>
          <p:cNvPicPr>
            <a:picLocks noChangeAspect="1"/>
          </p:cNvPicPr>
          <p:nvPr/>
        </p:nvPicPr>
        <p:blipFill>
          <a:blip r:embed="rId4"/>
          <a:stretch>
            <a:fillRect/>
          </a:stretch>
        </p:blipFill>
        <p:spPr>
          <a:xfrm>
            <a:off x="457200" y="2377440"/>
            <a:ext cx="8468751" cy="3840480"/>
          </a:xfrm>
          <a:prstGeom prst="rect">
            <a:avLst/>
          </a:prstGeom>
        </p:spPr>
      </p:pic>
      <p:sp>
        <p:nvSpPr>
          <p:cNvPr id="7" name="TextBox 6"/>
          <p:cNvSpPr txBox="1"/>
          <p:nvPr/>
        </p:nvSpPr>
        <p:spPr>
          <a:xfrm>
            <a:off x="9052560" y="2926080"/>
            <a:ext cx="2743200" cy="2743200"/>
          </a:xfrm>
          <a:prstGeom prst="rect">
            <a:avLst/>
          </a:prstGeom>
          <a:noFill/>
        </p:spPr>
        <p:txBody>
          <a:bodyPr wrap="square">
            <a:spAutoFit/>
          </a:bodyPr>
          <a:lstStyle/>
          <a:p>
            <a:pPr algn="l">
              <a:spcAft>
                <a:spcPts val="600"/>
              </a:spcAft>
            </a:pPr>
            <a:r>
              <a:rPr sz="1600" b="0">
                <a:solidFill>
                  <a:srgbClr val="1C2833"/>
                </a:solidFill>
                <a:latin typeface="Calibri"/>
              </a:rPr>
              <a:t>From 54.1% in January 2022 to 66.2% in December 2025.</a:t>
            </a:r>
          </a:p>
          <a:p>
            <a:pPr algn="l">
              <a:spcAft>
                <a:spcPts val="600"/>
              </a:spcAft>
            </a:pPr>
            <a:endParaRPr sz="1600" b="0">
              <a:solidFill>
                <a:srgbClr val="1C2833"/>
              </a:solidFill>
              <a:latin typeface="Calibri"/>
            </a:endParaRPr>
          </a:p>
          <a:p>
            <a:pPr algn="l">
              <a:spcAft>
                <a:spcPts val="600"/>
              </a:spcAft>
            </a:pPr>
            <a:r>
              <a:rPr sz="1600" b="0">
                <a:solidFill>
                  <a:srgbClr val="1C2833"/>
                </a:solidFill>
                <a:latin typeface="Calibri"/>
              </a:rPr>
              <a:t>So the national number is fine. The question is where it isn't.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1005840"/>
          </a:xfrm>
          <a:prstGeom prst="rect">
            <a:avLst/>
          </a:prstGeom>
          <a:noFill/>
        </p:spPr>
        <p:txBody>
          <a:bodyPr wrap="square">
            <a:spAutoFit/>
          </a:bodyPr>
          <a:lstStyle/>
          <a:p>
            <a:pPr algn="l">
              <a:spcAft>
                <a:spcPts val="600"/>
              </a:spcAft>
            </a:pPr>
            <a:r>
              <a:rPr sz="2600" b="1">
                <a:solidFill>
                  <a:srgbClr val="1C2833"/>
                </a:solidFill>
                <a:latin typeface="Calibri"/>
              </a:rPr>
              <a:t>But 8 of 13 regions are still below 65%.</a:t>
            </a:r>
          </a:p>
        </p:txBody>
      </p:sp>
      <p:sp>
        <p:nvSpPr>
          <p:cNvPr id="4" name="TextBox 3"/>
          <p:cNvSpPr txBox="1"/>
          <p:nvPr/>
        </p:nvSpPr>
        <p:spPr>
          <a:xfrm>
            <a:off x="10972800" y="6446520"/>
            <a:ext cx="822960" cy="274320"/>
          </a:xfrm>
          <a:prstGeom prst="rect">
            <a:avLst/>
          </a:prstGeom>
          <a:noFill/>
        </p:spPr>
        <p:txBody>
          <a:bodyPr wrap="square">
            <a:spAutoFit/>
          </a:bodyPr>
          <a:lstStyle/>
          <a:p>
            <a:pPr algn="r">
              <a:spcAft>
                <a:spcPts val="600"/>
              </a:spcAft>
            </a:pPr>
            <a:r>
              <a:rPr sz="1000" b="0">
                <a:solidFill>
                  <a:srgbClr val="5C6B73"/>
                </a:solidFill>
                <a:latin typeface="Calibri"/>
              </a:rPr>
              <a:t>3</a:t>
            </a:r>
          </a:p>
        </p:txBody>
      </p:sp>
      <p:pic>
        <p:nvPicPr>
          <p:cNvPr id="5" name="Picture 4" descr="RegionalAdoption.png"/>
          <p:cNvPicPr>
            <a:picLocks noChangeAspect="1"/>
          </p:cNvPicPr>
          <p:nvPr/>
        </p:nvPicPr>
        <p:blipFill>
          <a:blip r:embed="rId3"/>
          <a:stretch>
            <a:fillRect/>
          </a:stretch>
        </p:blipFill>
        <p:spPr>
          <a:xfrm>
            <a:off x="457200" y="1371600"/>
            <a:ext cx="9252065" cy="4846320"/>
          </a:xfrm>
          <a:prstGeom prst="rect">
            <a:avLst/>
          </a:prstGeom>
        </p:spPr>
      </p:pic>
      <p:sp>
        <p:nvSpPr>
          <p:cNvPr id="6" name="TextBox 5"/>
          <p:cNvSpPr txBox="1"/>
          <p:nvPr/>
        </p:nvSpPr>
        <p:spPr>
          <a:xfrm>
            <a:off x="9966960" y="1737360"/>
            <a:ext cx="1920240" cy="4114800"/>
          </a:xfrm>
          <a:prstGeom prst="rect">
            <a:avLst/>
          </a:prstGeom>
          <a:noFill/>
        </p:spPr>
        <p:txBody>
          <a:bodyPr wrap="square">
            <a:spAutoFit/>
          </a:bodyPr>
          <a:lstStyle/>
          <a:p>
            <a:pPr algn="l">
              <a:spcAft>
                <a:spcPts val="600"/>
              </a:spcAft>
            </a:pPr>
            <a:r>
              <a:rPr sz="1500" b="0">
                <a:solidFill>
                  <a:srgbClr val="1C2833"/>
                </a:solidFill>
                <a:latin typeface="Calibri"/>
              </a:rPr>
              <a:t>December 2025, from the dashboard.</a:t>
            </a:r>
          </a:p>
          <a:p>
            <a:pPr algn="l">
              <a:spcAft>
                <a:spcPts val="600"/>
              </a:spcAft>
            </a:pPr>
            <a:endParaRPr sz="1500" b="0">
              <a:solidFill>
                <a:srgbClr val="1C2833"/>
              </a:solidFill>
              <a:latin typeface="Calibri"/>
            </a:endParaRPr>
          </a:p>
          <a:p>
            <a:pPr algn="l">
              <a:spcAft>
                <a:spcPts val="600"/>
              </a:spcAft>
            </a:pPr>
            <a:r>
              <a:rPr sz="1500" b="0">
                <a:solidFill>
                  <a:srgbClr val="1C2833"/>
                </a:solidFill>
                <a:latin typeface="Calibri"/>
              </a:rPr>
              <a:t>Orange is below target, blue is on or above.</a:t>
            </a:r>
          </a:p>
          <a:p>
            <a:pPr algn="l">
              <a:spcAft>
                <a:spcPts val="600"/>
              </a:spcAft>
            </a:pPr>
            <a:endParaRPr sz="1500" b="0">
              <a:solidFill>
                <a:srgbClr val="1C2833"/>
              </a:solidFill>
              <a:latin typeface="Calibri"/>
            </a:endParaRPr>
          </a:p>
          <a:p>
            <a:pPr algn="l">
              <a:spcAft>
                <a:spcPts val="600"/>
              </a:spcAft>
            </a:pPr>
            <a:r>
              <a:rPr sz="1500" b="0">
                <a:solidFill>
                  <a:srgbClr val="1C2833"/>
                </a:solidFill>
                <a:latin typeface="Calibri"/>
              </a:rPr>
              <a:t>Riyadh and Makkah are near 71%. Najran is lowest at 60.9%.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1005840"/>
          </a:xfrm>
          <a:prstGeom prst="rect">
            <a:avLst/>
          </a:prstGeom>
          <a:noFill/>
        </p:spPr>
        <p:txBody>
          <a:bodyPr wrap="square">
            <a:spAutoFit/>
          </a:bodyPr>
          <a:lstStyle/>
          <a:p>
            <a:pPr algn="l">
              <a:spcAft>
                <a:spcPts val="600"/>
              </a:spcAft>
            </a:pPr>
            <a:r>
              <a:rPr sz="2600" b="1">
                <a:solidFill>
                  <a:srgbClr val="1C2833"/>
                </a:solidFill>
                <a:latin typeface="Calibri"/>
              </a:rPr>
              <a:t>Four regions are 2 to 4 points short. The other four are under a point away.</a:t>
            </a:r>
          </a:p>
        </p:txBody>
      </p:sp>
      <p:sp>
        <p:nvSpPr>
          <p:cNvPr id="4" name="TextBox 3"/>
          <p:cNvSpPr txBox="1"/>
          <p:nvPr/>
        </p:nvSpPr>
        <p:spPr>
          <a:xfrm>
            <a:off x="10972800" y="6446520"/>
            <a:ext cx="822960" cy="274320"/>
          </a:xfrm>
          <a:prstGeom prst="rect">
            <a:avLst/>
          </a:prstGeom>
          <a:noFill/>
        </p:spPr>
        <p:txBody>
          <a:bodyPr wrap="square">
            <a:spAutoFit/>
          </a:bodyPr>
          <a:lstStyle/>
          <a:p>
            <a:pPr algn="r">
              <a:spcAft>
                <a:spcPts val="600"/>
              </a:spcAft>
            </a:pPr>
            <a:r>
              <a:rPr sz="1000" b="0">
                <a:solidFill>
                  <a:srgbClr val="5C6B73"/>
                </a:solidFill>
                <a:latin typeface="Calibri"/>
              </a:rPr>
              <a:t>4</a:t>
            </a:r>
          </a:p>
        </p:txBody>
      </p:sp>
      <p:pic>
        <p:nvPicPr>
          <p:cNvPr id="5" name="Picture 4" descr="tableau_annotated.png"/>
          <p:cNvPicPr>
            <a:picLocks noChangeAspect="1"/>
          </p:cNvPicPr>
          <p:nvPr/>
        </p:nvPicPr>
        <p:blipFill>
          <a:blip r:embed="rId3"/>
          <a:stretch>
            <a:fillRect/>
          </a:stretch>
        </p:blipFill>
        <p:spPr>
          <a:xfrm>
            <a:off x="457200" y="1280160"/>
            <a:ext cx="10029193" cy="4389120"/>
          </a:xfrm>
          <a:prstGeom prst="rect">
            <a:avLst/>
          </a:prstGeom>
        </p:spPr>
      </p:pic>
      <p:sp>
        <p:nvSpPr>
          <p:cNvPr id="6" name="TextBox 5"/>
          <p:cNvSpPr txBox="1"/>
          <p:nvPr/>
        </p:nvSpPr>
        <p:spPr>
          <a:xfrm>
            <a:off x="457200" y="5760720"/>
            <a:ext cx="11247120" cy="640080"/>
          </a:xfrm>
          <a:prstGeom prst="rect">
            <a:avLst/>
          </a:prstGeom>
          <a:noFill/>
        </p:spPr>
        <p:txBody>
          <a:bodyPr wrap="square">
            <a:spAutoFit/>
          </a:bodyPr>
          <a:lstStyle/>
          <a:p>
            <a:pPr algn="l">
              <a:spcAft>
                <a:spcPts val="600"/>
              </a:spcAft>
            </a:pPr>
            <a:r>
              <a:rPr sz="1500" b="0">
                <a:solidFill>
                  <a:srgbClr val="1C2833"/>
                </a:solidFill>
                <a:latin typeface="Calibri"/>
              </a:rPr>
              <a:t>Gap = 65 minus the region's December rate. If the four furthest behind reach 65%, national adoption goes from 66.2% to 66.8% and no region is more than 0.7 points short.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1005840"/>
          </a:xfrm>
          <a:prstGeom prst="rect">
            <a:avLst/>
          </a:prstGeom>
          <a:noFill/>
        </p:spPr>
        <p:txBody>
          <a:bodyPr wrap="square">
            <a:spAutoFit/>
          </a:bodyPr>
          <a:lstStyle/>
          <a:p>
            <a:pPr algn="l">
              <a:spcAft>
                <a:spcPts val="600"/>
              </a:spcAft>
            </a:pPr>
            <a:r>
              <a:rPr sz="2600" b="1">
                <a:solidFill>
                  <a:srgbClr val="1C2833"/>
                </a:solidFill>
                <a:latin typeface="Calibri"/>
              </a:rPr>
              <a:t>An even split sends half the money to regions that are almost at 65%.</a:t>
            </a:r>
          </a:p>
        </p:txBody>
      </p:sp>
      <p:sp>
        <p:nvSpPr>
          <p:cNvPr id="4" name="TextBox 3"/>
          <p:cNvSpPr txBox="1"/>
          <p:nvPr/>
        </p:nvSpPr>
        <p:spPr>
          <a:xfrm>
            <a:off x="10972800" y="6446520"/>
            <a:ext cx="822960" cy="274320"/>
          </a:xfrm>
          <a:prstGeom prst="rect">
            <a:avLst/>
          </a:prstGeom>
          <a:noFill/>
        </p:spPr>
        <p:txBody>
          <a:bodyPr wrap="square">
            <a:spAutoFit/>
          </a:bodyPr>
          <a:lstStyle/>
          <a:p>
            <a:pPr algn="r">
              <a:spcAft>
                <a:spcPts val="600"/>
              </a:spcAft>
            </a:pPr>
            <a:r>
              <a:rPr sz="1000" b="0">
                <a:solidFill>
                  <a:srgbClr val="5C6B73"/>
                </a:solidFill>
                <a:latin typeface="Calibri"/>
              </a:rPr>
              <a:t>5</a:t>
            </a:r>
          </a:p>
        </p:txBody>
      </p:sp>
      <p:pic>
        <p:nvPicPr>
          <p:cNvPr id="5" name="Picture 4" descr="options.png"/>
          <p:cNvPicPr>
            <a:picLocks noChangeAspect="1"/>
          </p:cNvPicPr>
          <p:nvPr/>
        </p:nvPicPr>
        <p:blipFill>
          <a:blip r:embed="rId3"/>
          <a:stretch>
            <a:fillRect/>
          </a:stretch>
        </p:blipFill>
        <p:spPr>
          <a:xfrm>
            <a:off x="320040" y="1371600"/>
            <a:ext cx="11521440" cy="4088253"/>
          </a:xfrm>
          <a:prstGeom prst="rect">
            <a:avLst/>
          </a:prstGeom>
        </p:spPr>
      </p:pic>
      <p:sp>
        <p:nvSpPr>
          <p:cNvPr id="6" name="TextBox 5"/>
          <p:cNvSpPr txBox="1"/>
          <p:nvPr/>
        </p:nvSpPr>
        <p:spPr>
          <a:xfrm>
            <a:off x="457200" y="6080760"/>
            <a:ext cx="11247120" cy="365760"/>
          </a:xfrm>
          <a:prstGeom prst="rect">
            <a:avLst/>
          </a:prstGeom>
          <a:noFill/>
        </p:spPr>
        <p:txBody>
          <a:bodyPr wrap="square">
            <a:spAutoFit/>
          </a:bodyPr>
          <a:lstStyle/>
          <a:p>
            <a:pPr algn="l">
              <a:spcAft>
                <a:spcPts val="600"/>
              </a:spcAft>
            </a:pPr>
            <a:r>
              <a:rPr sz="1300" b="0">
                <a:solidFill>
                  <a:srgbClr val="5C6B73"/>
                </a:solidFill>
                <a:latin typeface="Calibri"/>
              </a:rPr>
              <a:t>The eight regions below target, lowest at the top. Orange: the four furthest behind. Grey: under a point away.</a:t>
            </a:r>
          </a:p>
        </p:txBody>
      </p:sp>
      <p:sp>
        <p:nvSpPr>
          <p:cNvPr id="7" name="مستطيل: زوايا مستديرة 6">
            <a:extLst>
              <a:ext uri="{FF2B5EF4-FFF2-40B4-BE49-F238E27FC236}">
                <a16:creationId xmlns:a16="http://schemas.microsoft.com/office/drawing/2014/main" id="{B3941DB2-5836-FECA-29AC-AF036C67515E}"/>
              </a:ext>
            </a:extLst>
          </p:cNvPr>
          <p:cNvSpPr/>
          <p:nvPr/>
        </p:nvSpPr>
        <p:spPr>
          <a:xfrm>
            <a:off x="8318810" y="1280160"/>
            <a:ext cx="3476950" cy="4179693"/>
          </a:xfrm>
          <a:prstGeom prst="roundRect">
            <a:avLst>
              <a:gd name="adj" fmla="val 8198"/>
            </a:avLst>
          </a:prstGeom>
          <a:no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1" anchor="ctr"/>
          <a:lstStyle/>
          <a:p>
            <a:pPr algn="ctr"/>
            <a:endParaRPr lang="ar-SA">
              <a:solidFill>
                <a:schemeClr val="accent6"/>
              </a:solidFill>
            </a:endParaRPr>
          </a:p>
        </p:txBody>
      </p:sp>
      <p:sp>
        <p:nvSpPr>
          <p:cNvPr id="8" name="مستطيل: زوايا مستديرة 7">
            <a:extLst>
              <a:ext uri="{FF2B5EF4-FFF2-40B4-BE49-F238E27FC236}">
                <a16:creationId xmlns:a16="http://schemas.microsoft.com/office/drawing/2014/main" id="{9B0DEB17-589A-79B3-58B5-32FE66BA5840}"/>
              </a:ext>
            </a:extLst>
          </p:cNvPr>
          <p:cNvSpPr/>
          <p:nvPr/>
        </p:nvSpPr>
        <p:spPr>
          <a:xfrm>
            <a:off x="396240" y="1280159"/>
            <a:ext cx="7876850" cy="4179693"/>
          </a:xfrm>
          <a:prstGeom prst="roundRect">
            <a:avLst>
              <a:gd name="adj" fmla="val 8198"/>
            </a:avLst>
          </a:prstGeom>
          <a:noFill/>
          <a:ln w="38100" cap="flat" cmpd="sng" algn="ctr">
            <a:solidFill>
              <a:schemeClr val="bg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1" anchor="ctr"/>
          <a:lstStyle/>
          <a:p>
            <a:pPr algn="ctr"/>
            <a:endParaRPr lang="ar-SA" dirty="0">
              <a:solidFill>
                <a:schemeClr val="accent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1005840"/>
          </a:xfrm>
          <a:prstGeom prst="rect">
            <a:avLst/>
          </a:prstGeom>
          <a:noFill/>
        </p:spPr>
        <p:txBody>
          <a:bodyPr wrap="square">
            <a:spAutoFit/>
          </a:bodyPr>
          <a:lstStyle/>
          <a:p>
            <a:pPr algn="l">
              <a:spcAft>
                <a:spcPts val="600"/>
              </a:spcAft>
            </a:pPr>
            <a:r>
              <a:rPr sz="2600" b="1">
                <a:solidFill>
                  <a:srgbClr val="1C2833"/>
                </a:solidFill>
                <a:latin typeface="Calibri"/>
              </a:rPr>
              <a:t>We recommend option C: split by gap across the four furthest behind.</a:t>
            </a:r>
          </a:p>
        </p:txBody>
      </p:sp>
      <p:sp>
        <p:nvSpPr>
          <p:cNvPr id="4" name="TextBox 3"/>
          <p:cNvSpPr txBox="1"/>
          <p:nvPr/>
        </p:nvSpPr>
        <p:spPr>
          <a:xfrm>
            <a:off x="10972800" y="6446520"/>
            <a:ext cx="822960" cy="274320"/>
          </a:xfrm>
          <a:prstGeom prst="rect">
            <a:avLst/>
          </a:prstGeom>
          <a:noFill/>
        </p:spPr>
        <p:txBody>
          <a:bodyPr wrap="square">
            <a:spAutoFit/>
          </a:bodyPr>
          <a:lstStyle/>
          <a:p>
            <a:pPr algn="r">
              <a:spcAft>
                <a:spcPts val="600"/>
              </a:spcAft>
            </a:pPr>
            <a:r>
              <a:rPr sz="1000" b="0">
                <a:solidFill>
                  <a:srgbClr val="5C6B73"/>
                </a:solidFill>
                <a:latin typeface="Calibri"/>
              </a:rPr>
              <a:t>6</a:t>
            </a:r>
          </a:p>
        </p:txBody>
      </p:sp>
      <p:pic>
        <p:nvPicPr>
          <p:cNvPr id="5" name="Picture 4" descr="tableau_annotated.png"/>
          <p:cNvPicPr>
            <a:picLocks noChangeAspect="1"/>
          </p:cNvPicPr>
          <p:nvPr/>
        </p:nvPicPr>
        <p:blipFill>
          <a:blip r:embed="rId3"/>
          <a:stretch>
            <a:fillRect/>
          </a:stretch>
        </p:blipFill>
        <p:spPr>
          <a:xfrm>
            <a:off x="320040" y="1371600"/>
            <a:ext cx="8253190" cy="3611880"/>
          </a:xfrm>
          <a:prstGeom prst="rect">
            <a:avLst/>
          </a:prstGeom>
        </p:spPr>
      </p:pic>
      <p:sp>
        <p:nvSpPr>
          <p:cNvPr id="6" name="Rectangle 5"/>
          <p:cNvSpPr/>
          <p:nvPr/>
        </p:nvSpPr>
        <p:spPr>
          <a:xfrm>
            <a:off x="8778240" y="1371600"/>
            <a:ext cx="3017520" cy="3840480"/>
          </a:xfrm>
          <a:prstGeom prst="rect">
            <a:avLst/>
          </a:prstGeom>
          <a:solidFill>
            <a:srgbClr val="FD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0" y="1508760"/>
            <a:ext cx="2743200" cy="365760"/>
          </a:xfrm>
          <a:prstGeom prst="rect">
            <a:avLst/>
          </a:prstGeom>
          <a:noFill/>
        </p:spPr>
        <p:txBody>
          <a:bodyPr wrap="square">
            <a:spAutoFit/>
          </a:bodyPr>
          <a:lstStyle/>
          <a:p>
            <a:pPr algn="l">
              <a:spcAft>
                <a:spcPts val="600"/>
              </a:spcAft>
            </a:pPr>
            <a:r>
              <a:rPr sz="1400" b="1">
                <a:solidFill>
                  <a:srgbClr val="F28E2B"/>
                </a:solidFill>
                <a:latin typeface="Calibri"/>
              </a:rPr>
              <a:t>Option C</a:t>
            </a:r>
          </a:p>
        </p:txBody>
      </p:sp>
      <p:sp>
        <p:nvSpPr>
          <p:cNvPr id="8" name="TextBox 7"/>
          <p:cNvSpPr txBox="1"/>
          <p:nvPr/>
        </p:nvSpPr>
        <p:spPr>
          <a:xfrm>
            <a:off x="8961120" y="1920240"/>
            <a:ext cx="2743200" cy="1737360"/>
          </a:xfrm>
          <a:prstGeom prst="rect">
            <a:avLst/>
          </a:prstGeom>
          <a:noFill/>
        </p:spPr>
        <p:txBody>
          <a:bodyPr wrap="square">
            <a:spAutoFit/>
          </a:bodyPr>
          <a:lstStyle/>
          <a:p>
            <a:pPr algn="l">
              <a:spcAft>
                <a:spcPts val="600"/>
              </a:spcAft>
            </a:pPr>
            <a:r>
              <a:rPr sz="1500" b="1">
                <a:solidFill>
                  <a:srgbClr val="1C2833"/>
                </a:solidFill>
                <a:latin typeface="Calibri"/>
              </a:rPr>
              <a:t>Najran   SAR 15.6M</a:t>
            </a:r>
          </a:p>
          <a:p>
            <a:pPr algn="l">
              <a:spcAft>
                <a:spcPts val="600"/>
              </a:spcAft>
            </a:pPr>
            <a:r>
              <a:rPr sz="1500" b="1">
                <a:solidFill>
                  <a:srgbClr val="1C2833"/>
                </a:solidFill>
                <a:latin typeface="Calibri"/>
              </a:rPr>
              <a:t>Northern Borders   SAR 8.7M</a:t>
            </a:r>
          </a:p>
          <a:p>
            <a:pPr algn="l">
              <a:spcAft>
                <a:spcPts val="600"/>
              </a:spcAft>
            </a:pPr>
            <a:r>
              <a:rPr sz="1500" b="1">
                <a:solidFill>
                  <a:srgbClr val="1C2833"/>
                </a:solidFill>
                <a:latin typeface="Calibri"/>
              </a:rPr>
              <a:t>Al-Baha   SAR 8.3M</a:t>
            </a:r>
          </a:p>
          <a:p>
            <a:pPr algn="l">
              <a:spcAft>
                <a:spcPts val="600"/>
              </a:spcAft>
            </a:pPr>
            <a:r>
              <a:rPr sz="1500" b="1">
                <a:solidFill>
                  <a:srgbClr val="1C2833"/>
                </a:solidFill>
                <a:latin typeface="Calibri"/>
              </a:rPr>
              <a:t>Jazan   SAR 7.4M</a:t>
            </a:r>
          </a:p>
        </p:txBody>
      </p:sp>
      <p:sp>
        <p:nvSpPr>
          <p:cNvPr id="9" name="TextBox 8"/>
          <p:cNvSpPr txBox="1"/>
          <p:nvPr/>
        </p:nvSpPr>
        <p:spPr>
          <a:xfrm>
            <a:off x="8961120" y="3657600"/>
            <a:ext cx="2743200" cy="1463040"/>
          </a:xfrm>
          <a:prstGeom prst="rect">
            <a:avLst/>
          </a:prstGeom>
          <a:noFill/>
        </p:spPr>
        <p:txBody>
          <a:bodyPr wrap="square">
            <a:spAutoFit/>
          </a:bodyPr>
          <a:lstStyle/>
          <a:p>
            <a:pPr algn="l">
              <a:spcAft>
                <a:spcPts val="600"/>
              </a:spcAft>
            </a:pPr>
            <a:r>
              <a:rPr sz="1400" b="0">
                <a:solidFill>
                  <a:srgbClr val="1C2833"/>
                </a:solidFill>
                <a:latin typeface="Calibri"/>
              </a:rPr>
              <a:t>Expected effect: if the four reach 65%, national adoption rises to about 66.8% and every region is within 0.7 points of target.</a:t>
            </a:r>
          </a:p>
        </p:txBody>
      </p:sp>
      <p:sp>
        <p:nvSpPr>
          <p:cNvPr id="10" name="TextBox 9"/>
          <p:cNvSpPr txBox="1"/>
          <p:nvPr/>
        </p:nvSpPr>
        <p:spPr>
          <a:xfrm>
            <a:off x="457200" y="5440680"/>
            <a:ext cx="11247120" cy="822960"/>
          </a:xfrm>
          <a:prstGeom prst="rect">
            <a:avLst/>
          </a:prstGeom>
          <a:noFill/>
        </p:spPr>
        <p:txBody>
          <a:bodyPr wrap="square">
            <a:spAutoFit/>
          </a:bodyPr>
          <a:lstStyle/>
          <a:p>
            <a:pPr algn="l">
              <a:spcAft>
                <a:spcPts val="600"/>
              </a:spcAft>
            </a:pPr>
            <a:r>
              <a:rPr sz="1500" b="0">
                <a:solidFill>
                  <a:srgbClr val="5C6B73"/>
                </a:solidFill>
                <a:latin typeface="Calibri"/>
              </a:rPr>
              <a:t>Why not A or B: they spend 20M and 5M on regions that are already within a point. The data doesn't tell us how many points a million riyals buys, so the June check matters.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1005840"/>
          </a:xfrm>
          <a:prstGeom prst="rect">
            <a:avLst/>
          </a:prstGeom>
          <a:noFill/>
        </p:spPr>
        <p:txBody>
          <a:bodyPr wrap="square">
            <a:spAutoFit/>
          </a:bodyPr>
          <a:lstStyle/>
          <a:p>
            <a:pPr algn="l">
              <a:spcAft>
                <a:spcPts val="600"/>
              </a:spcAft>
            </a:pPr>
            <a:r>
              <a:rPr sz="2600" b="1">
                <a:solidFill>
                  <a:srgbClr val="1C2833"/>
                </a:solidFill>
                <a:latin typeface="Calibri"/>
              </a:rPr>
              <a:t>Approve the SAR 40 million split today. We check progress in June 2026.</a:t>
            </a:r>
          </a:p>
        </p:txBody>
      </p:sp>
      <p:sp>
        <p:nvSpPr>
          <p:cNvPr id="4" name="TextBox 3"/>
          <p:cNvSpPr txBox="1"/>
          <p:nvPr/>
        </p:nvSpPr>
        <p:spPr>
          <a:xfrm>
            <a:off x="10972800" y="6446520"/>
            <a:ext cx="822960" cy="274320"/>
          </a:xfrm>
          <a:prstGeom prst="rect">
            <a:avLst/>
          </a:prstGeom>
          <a:noFill/>
        </p:spPr>
        <p:txBody>
          <a:bodyPr wrap="square">
            <a:spAutoFit/>
          </a:bodyPr>
          <a:lstStyle/>
          <a:p>
            <a:pPr algn="r">
              <a:spcAft>
                <a:spcPts val="600"/>
              </a:spcAft>
            </a:pPr>
            <a:r>
              <a:rPr sz="1000" b="0">
                <a:solidFill>
                  <a:srgbClr val="5C6B73"/>
                </a:solidFill>
                <a:latin typeface="Calibri"/>
              </a:rPr>
              <a:t>7</a:t>
            </a:r>
          </a:p>
        </p:txBody>
      </p:sp>
      <p:sp>
        <p:nvSpPr>
          <p:cNvPr id="5" name="Rectangle 4"/>
          <p:cNvSpPr/>
          <p:nvPr/>
        </p:nvSpPr>
        <p:spPr>
          <a:xfrm>
            <a:off x="457200" y="1463040"/>
            <a:ext cx="11247120" cy="1188720"/>
          </a:xfrm>
          <a:prstGeom prst="rect">
            <a:avLst/>
          </a:prstGeom>
          <a:solidFill>
            <a:srgbClr val="FD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737360"/>
            <a:ext cx="10881360" cy="640080"/>
          </a:xfrm>
          <a:prstGeom prst="rect">
            <a:avLst/>
          </a:prstGeom>
          <a:noFill/>
        </p:spPr>
        <p:txBody>
          <a:bodyPr wrap="square">
            <a:spAutoFit/>
          </a:bodyPr>
          <a:lstStyle/>
          <a:p>
            <a:pPr algn="l">
              <a:spcAft>
                <a:spcPts val="600"/>
              </a:spcAft>
            </a:pPr>
            <a:r>
              <a:rPr sz="2200" b="1">
                <a:solidFill>
                  <a:srgbClr val="1C2833"/>
                </a:solidFill>
                <a:latin typeface="Calibri"/>
              </a:rPr>
              <a:t>Najran 15.6M, Northern Borders 8.7M, Al-Baha 8.3M, Jazan 7.4M</a:t>
            </a:r>
          </a:p>
        </p:txBody>
      </p:sp>
      <p:sp>
        <p:nvSpPr>
          <p:cNvPr id="7" name="TextBox 6"/>
          <p:cNvSpPr txBox="1"/>
          <p:nvPr/>
        </p:nvSpPr>
        <p:spPr>
          <a:xfrm>
            <a:off x="457200" y="2971800"/>
            <a:ext cx="10972800" cy="365760"/>
          </a:xfrm>
          <a:prstGeom prst="rect">
            <a:avLst/>
          </a:prstGeom>
          <a:noFill/>
        </p:spPr>
        <p:txBody>
          <a:bodyPr wrap="square">
            <a:spAutoFit/>
          </a:bodyPr>
          <a:lstStyle/>
          <a:p>
            <a:pPr algn="l">
              <a:spcAft>
                <a:spcPts val="600"/>
              </a:spcAft>
            </a:pPr>
            <a:r>
              <a:rPr sz="1600" b="1">
                <a:solidFill>
                  <a:srgbClr val="4E79A7"/>
                </a:solidFill>
                <a:latin typeface="Calibri"/>
              </a:rPr>
              <a:t>June 2026 checkpoint, on the Tableau dashboard</a:t>
            </a:r>
          </a:p>
        </p:txBody>
      </p:sp>
      <p:sp>
        <p:nvSpPr>
          <p:cNvPr id="8" name="TextBox 7"/>
          <p:cNvSpPr txBox="1"/>
          <p:nvPr/>
        </p:nvSpPr>
        <p:spPr>
          <a:xfrm>
            <a:off x="457200" y="3429000"/>
            <a:ext cx="11247120" cy="914400"/>
          </a:xfrm>
          <a:prstGeom prst="rect">
            <a:avLst/>
          </a:prstGeom>
          <a:noFill/>
        </p:spPr>
        <p:txBody>
          <a:bodyPr wrap="square">
            <a:spAutoFit/>
          </a:bodyPr>
          <a:lstStyle/>
          <a:p>
            <a:pPr algn="l">
              <a:spcAft>
                <a:spcPts val="600"/>
              </a:spcAft>
            </a:pPr>
            <a:r>
              <a:rPr sz="1600" b="0">
                <a:solidFill>
                  <a:srgbClr val="1C2833"/>
                </a:solidFill>
                <a:latin typeface="Calibri"/>
              </a:rPr>
              <a:t>Each region should have closed at least half its gap:</a:t>
            </a:r>
          </a:p>
          <a:p>
            <a:pPr algn="l">
              <a:spcAft>
                <a:spcPts val="600"/>
              </a:spcAft>
            </a:pPr>
            <a:r>
              <a:rPr sz="1600" b="0">
                <a:solidFill>
                  <a:srgbClr val="1C2833"/>
                </a:solidFill>
                <a:latin typeface="Calibri"/>
              </a:rPr>
              <a:t>Najran 62.9%     Northern Borders 63.9%     Al-Baha 63.9%     Jazan 64.0%</a:t>
            </a:r>
          </a:p>
        </p:txBody>
      </p:sp>
      <p:sp>
        <p:nvSpPr>
          <p:cNvPr id="9" name="TextBox 8"/>
          <p:cNvSpPr txBox="1"/>
          <p:nvPr/>
        </p:nvSpPr>
        <p:spPr>
          <a:xfrm>
            <a:off x="457200" y="4526280"/>
            <a:ext cx="11247120" cy="822960"/>
          </a:xfrm>
          <a:prstGeom prst="rect">
            <a:avLst/>
          </a:prstGeom>
          <a:noFill/>
        </p:spPr>
        <p:txBody>
          <a:bodyPr wrap="square">
            <a:spAutoFit/>
          </a:bodyPr>
          <a:lstStyle/>
          <a:p>
            <a:pPr algn="l">
              <a:spcAft>
                <a:spcPts val="600"/>
              </a:spcAft>
            </a:pPr>
            <a:r>
              <a:rPr sz="1600" b="0">
                <a:solidFill>
                  <a:srgbClr val="1C2833"/>
                </a:solidFill>
                <a:latin typeface="Calibri"/>
              </a:rPr>
              <a:t>If a region is behind, we bring it back here before more is spent there. Target: all four at 65% by December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1005840"/>
          </a:xfrm>
          <a:prstGeom prst="rect">
            <a:avLst/>
          </a:prstGeom>
          <a:noFill/>
        </p:spPr>
        <p:txBody>
          <a:bodyPr wrap="square">
            <a:spAutoFit/>
          </a:bodyPr>
          <a:lstStyle/>
          <a:p>
            <a:pPr algn="l">
              <a:spcAft>
                <a:spcPts val="600"/>
              </a:spcAft>
            </a:pPr>
            <a:r>
              <a:rPr sz="2600" b="1">
                <a:solidFill>
                  <a:srgbClr val="1C2833"/>
                </a:solidFill>
                <a:latin typeface="Calibri"/>
              </a:rPr>
              <a:t>Appendix: how the numbers were calculated</a:t>
            </a:r>
          </a:p>
        </p:txBody>
      </p:sp>
      <p:sp>
        <p:nvSpPr>
          <p:cNvPr id="4" name="TextBox 3"/>
          <p:cNvSpPr txBox="1"/>
          <p:nvPr/>
        </p:nvSpPr>
        <p:spPr>
          <a:xfrm>
            <a:off x="10972800" y="6446520"/>
            <a:ext cx="822960" cy="274320"/>
          </a:xfrm>
          <a:prstGeom prst="rect">
            <a:avLst/>
          </a:prstGeom>
          <a:noFill/>
        </p:spPr>
        <p:txBody>
          <a:bodyPr wrap="square">
            <a:spAutoFit/>
          </a:bodyPr>
          <a:lstStyle/>
          <a:p>
            <a:pPr algn="r">
              <a:spcAft>
                <a:spcPts val="600"/>
              </a:spcAft>
            </a:pPr>
            <a:r>
              <a:rPr sz="1000" b="0">
                <a:solidFill>
                  <a:srgbClr val="5C6B73"/>
                </a:solidFill>
                <a:latin typeface="Calibri"/>
              </a:rPr>
              <a:t>A1</a:t>
            </a:r>
          </a:p>
        </p:txBody>
      </p:sp>
      <p:sp>
        <p:nvSpPr>
          <p:cNvPr id="5" name="TextBox 4"/>
          <p:cNvSpPr txBox="1"/>
          <p:nvPr/>
        </p:nvSpPr>
        <p:spPr>
          <a:xfrm>
            <a:off x="457200" y="1417320"/>
            <a:ext cx="2011680" cy="548640"/>
          </a:xfrm>
          <a:prstGeom prst="rect">
            <a:avLst/>
          </a:prstGeom>
          <a:noFill/>
        </p:spPr>
        <p:txBody>
          <a:bodyPr wrap="square">
            <a:spAutoFit/>
          </a:bodyPr>
          <a:lstStyle/>
          <a:p>
            <a:pPr algn="l">
              <a:spcAft>
                <a:spcPts val="600"/>
              </a:spcAft>
            </a:pPr>
            <a:r>
              <a:rPr sz="1400" b="1">
                <a:solidFill>
                  <a:srgbClr val="4E79A7"/>
                </a:solidFill>
                <a:latin typeface="Calibri"/>
              </a:rPr>
              <a:t>Adoption</a:t>
            </a:r>
          </a:p>
        </p:txBody>
      </p:sp>
      <p:sp>
        <p:nvSpPr>
          <p:cNvPr id="6" name="TextBox 5"/>
          <p:cNvSpPr txBox="1"/>
          <p:nvPr/>
        </p:nvSpPr>
        <p:spPr>
          <a:xfrm>
            <a:off x="2560320" y="1417320"/>
            <a:ext cx="9144000" cy="731520"/>
          </a:xfrm>
          <a:prstGeom prst="rect">
            <a:avLst/>
          </a:prstGeom>
          <a:noFill/>
        </p:spPr>
        <p:txBody>
          <a:bodyPr wrap="square">
            <a:spAutoFit/>
          </a:bodyPr>
          <a:lstStyle/>
          <a:p>
            <a:pPr algn="l">
              <a:spcAft>
                <a:spcPts val="600"/>
              </a:spcAft>
            </a:pPr>
            <a:r>
              <a:rPr sz="1400" b="0">
                <a:solidFill>
                  <a:srgbClr val="1C2833"/>
                </a:solidFill>
                <a:latin typeface="Calibri"/>
              </a:rPr>
              <a:t>SUM(digital % × unique users) ÷ SUM(unique users). Weighted by users, not an average of percentages. Same calculated field as the dashboard.</a:t>
            </a:r>
          </a:p>
        </p:txBody>
      </p:sp>
      <p:sp>
        <p:nvSpPr>
          <p:cNvPr id="7" name="TextBox 6"/>
          <p:cNvSpPr txBox="1"/>
          <p:nvPr/>
        </p:nvSpPr>
        <p:spPr>
          <a:xfrm>
            <a:off x="457200" y="2194560"/>
            <a:ext cx="2011680" cy="548640"/>
          </a:xfrm>
          <a:prstGeom prst="rect">
            <a:avLst/>
          </a:prstGeom>
          <a:noFill/>
        </p:spPr>
        <p:txBody>
          <a:bodyPr wrap="square">
            <a:spAutoFit/>
          </a:bodyPr>
          <a:lstStyle/>
          <a:p>
            <a:pPr algn="l">
              <a:spcAft>
                <a:spcPts val="600"/>
              </a:spcAft>
            </a:pPr>
            <a:r>
              <a:rPr sz="1400" b="1">
                <a:solidFill>
                  <a:srgbClr val="4E79A7"/>
                </a:solidFill>
                <a:latin typeface="Calibri"/>
              </a:rPr>
              <a:t>Month</a:t>
            </a:r>
          </a:p>
        </p:txBody>
      </p:sp>
      <p:sp>
        <p:nvSpPr>
          <p:cNvPr id="8" name="TextBox 7"/>
          <p:cNvSpPr txBox="1"/>
          <p:nvPr/>
        </p:nvSpPr>
        <p:spPr>
          <a:xfrm>
            <a:off x="2560320" y="2194560"/>
            <a:ext cx="9144000" cy="731520"/>
          </a:xfrm>
          <a:prstGeom prst="rect">
            <a:avLst/>
          </a:prstGeom>
          <a:noFill/>
        </p:spPr>
        <p:txBody>
          <a:bodyPr wrap="square">
            <a:spAutoFit/>
          </a:bodyPr>
          <a:lstStyle/>
          <a:p>
            <a:pPr algn="l">
              <a:spcAft>
                <a:spcPts val="600"/>
              </a:spcAft>
            </a:pPr>
            <a:r>
              <a:rPr sz="1400" b="0">
                <a:solidFill>
                  <a:srgbClr val="1C2833"/>
                </a:solidFill>
                <a:latin typeface="Calibri"/>
              </a:rPr>
              <a:t>December 2025, the latest month in the Tayseer dataset (2022–2025, 13 regions).</a:t>
            </a:r>
          </a:p>
        </p:txBody>
      </p:sp>
      <p:sp>
        <p:nvSpPr>
          <p:cNvPr id="9" name="TextBox 8"/>
          <p:cNvSpPr txBox="1"/>
          <p:nvPr/>
        </p:nvSpPr>
        <p:spPr>
          <a:xfrm>
            <a:off x="457200" y="2971800"/>
            <a:ext cx="2011680" cy="548640"/>
          </a:xfrm>
          <a:prstGeom prst="rect">
            <a:avLst/>
          </a:prstGeom>
          <a:noFill/>
        </p:spPr>
        <p:txBody>
          <a:bodyPr wrap="square">
            <a:spAutoFit/>
          </a:bodyPr>
          <a:lstStyle/>
          <a:p>
            <a:pPr algn="l">
              <a:spcAft>
                <a:spcPts val="600"/>
              </a:spcAft>
            </a:pPr>
            <a:r>
              <a:rPr sz="1400" b="1">
                <a:solidFill>
                  <a:srgbClr val="4E79A7"/>
                </a:solidFill>
                <a:latin typeface="Calibri"/>
              </a:rPr>
              <a:t>Gap</a:t>
            </a:r>
          </a:p>
        </p:txBody>
      </p:sp>
      <p:sp>
        <p:nvSpPr>
          <p:cNvPr id="10" name="TextBox 9"/>
          <p:cNvSpPr txBox="1"/>
          <p:nvPr/>
        </p:nvSpPr>
        <p:spPr>
          <a:xfrm>
            <a:off x="2560320" y="2971800"/>
            <a:ext cx="9144000" cy="731520"/>
          </a:xfrm>
          <a:prstGeom prst="rect">
            <a:avLst/>
          </a:prstGeom>
          <a:noFill/>
        </p:spPr>
        <p:txBody>
          <a:bodyPr wrap="square">
            <a:spAutoFit/>
          </a:bodyPr>
          <a:lstStyle/>
          <a:p>
            <a:pPr algn="l">
              <a:spcAft>
                <a:spcPts val="600"/>
              </a:spcAft>
            </a:pPr>
            <a:r>
              <a:rPr sz="1400" b="0">
                <a:solidFill>
                  <a:srgbClr val="1C2833"/>
                </a:solidFill>
                <a:latin typeface="Calibri"/>
              </a:rPr>
              <a:t>65 minus the region's December rate, in percentage points.</a:t>
            </a:r>
          </a:p>
        </p:txBody>
      </p:sp>
      <p:sp>
        <p:nvSpPr>
          <p:cNvPr id="11" name="TextBox 10"/>
          <p:cNvSpPr txBox="1"/>
          <p:nvPr/>
        </p:nvSpPr>
        <p:spPr>
          <a:xfrm>
            <a:off x="457200" y="3749039"/>
            <a:ext cx="2011680" cy="548640"/>
          </a:xfrm>
          <a:prstGeom prst="rect">
            <a:avLst/>
          </a:prstGeom>
          <a:noFill/>
        </p:spPr>
        <p:txBody>
          <a:bodyPr wrap="square">
            <a:spAutoFit/>
          </a:bodyPr>
          <a:lstStyle/>
          <a:p>
            <a:pPr algn="l">
              <a:spcAft>
                <a:spcPts val="600"/>
              </a:spcAft>
            </a:pPr>
            <a:r>
              <a:rPr sz="1400" b="1">
                <a:solidFill>
                  <a:srgbClr val="4E79A7"/>
                </a:solidFill>
                <a:latin typeface="Calibri"/>
              </a:rPr>
              <a:t>Option C</a:t>
            </a:r>
          </a:p>
        </p:txBody>
      </p:sp>
      <p:sp>
        <p:nvSpPr>
          <p:cNvPr id="12" name="TextBox 11"/>
          <p:cNvSpPr txBox="1"/>
          <p:nvPr/>
        </p:nvSpPr>
        <p:spPr>
          <a:xfrm>
            <a:off x="2560320" y="3749039"/>
            <a:ext cx="9144000" cy="731520"/>
          </a:xfrm>
          <a:prstGeom prst="rect">
            <a:avLst/>
          </a:prstGeom>
          <a:noFill/>
        </p:spPr>
        <p:txBody>
          <a:bodyPr wrap="square">
            <a:spAutoFit/>
          </a:bodyPr>
          <a:lstStyle/>
          <a:p>
            <a:pPr algn="l">
              <a:spcAft>
                <a:spcPts val="600"/>
              </a:spcAft>
            </a:pPr>
            <a:r>
              <a:rPr sz="1400" b="0">
                <a:solidFill>
                  <a:srgbClr val="1C2833"/>
                </a:solidFill>
                <a:latin typeface="Calibri"/>
              </a:rPr>
              <a:t>40M × region's gap ÷ total gap of the four regions 2+ points short (10.6 points).</a:t>
            </a:r>
          </a:p>
        </p:txBody>
      </p:sp>
      <p:sp>
        <p:nvSpPr>
          <p:cNvPr id="13" name="TextBox 12"/>
          <p:cNvSpPr txBox="1"/>
          <p:nvPr/>
        </p:nvSpPr>
        <p:spPr>
          <a:xfrm>
            <a:off x="457200" y="4526279"/>
            <a:ext cx="2011680" cy="548640"/>
          </a:xfrm>
          <a:prstGeom prst="rect">
            <a:avLst/>
          </a:prstGeom>
          <a:noFill/>
        </p:spPr>
        <p:txBody>
          <a:bodyPr wrap="square">
            <a:spAutoFit/>
          </a:bodyPr>
          <a:lstStyle/>
          <a:p>
            <a:pPr algn="l">
              <a:spcAft>
                <a:spcPts val="600"/>
              </a:spcAft>
            </a:pPr>
            <a:r>
              <a:rPr sz="1400" b="1">
                <a:solidFill>
                  <a:srgbClr val="4E79A7"/>
                </a:solidFill>
                <a:latin typeface="Calibri"/>
              </a:rPr>
              <a:t>Effect</a:t>
            </a:r>
          </a:p>
        </p:txBody>
      </p:sp>
      <p:sp>
        <p:nvSpPr>
          <p:cNvPr id="14" name="TextBox 13"/>
          <p:cNvSpPr txBox="1"/>
          <p:nvPr/>
        </p:nvSpPr>
        <p:spPr>
          <a:xfrm>
            <a:off x="2560320" y="4526279"/>
            <a:ext cx="9144000" cy="731520"/>
          </a:xfrm>
          <a:prstGeom prst="rect">
            <a:avLst/>
          </a:prstGeom>
          <a:noFill/>
        </p:spPr>
        <p:txBody>
          <a:bodyPr wrap="square">
            <a:spAutoFit/>
          </a:bodyPr>
          <a:lstStyle/>
          <a:p>
            <a:pPr algn="l">
              <a:spcAft>
                <a:spcPts val="600"/>
              </a:spcAft>
            </a:pPr>
            <a:r>
              <a:rPr sz="1400" b="0">
                <a:solidFill>
                  <a:srgbClr val="1C2833"/>
                </a:solidFill>
                <a:latin typeface="Calibri"/>
              </a:rPr>
              <a:t>Adds the digital users each of the four needs to reach 65%, then recomputes the national rate (66.8%).</a:t>
            </a:r>
          </a:p>
        </p:txBody>
      </p:sp>
      <p:sp>
        <p:nvSpPr>
          <p:cNvPr id="15" name="TextBox 14"/>
          <p:cNvSpPr txBox="1"/>
          <p:nvPr/>
        </p:nvSpPr>
        <p:spPr>
          <a:xfrm>
            <a:off x="457200" y="5303519"/>
            <a:ext cx="2011680" cy="548640"/>
          </a:xfrm>
          <a:prstGeom prst="rect">
            <a:avLst/>
          </a:prstGeom>
          <a:noFill/>
        </p:spPr>
        <p:txBody>
          <a:bodyPr wrap="square">
            <a:spAutoFit/>
          </a:bodyPr>
          <a:lstStyle/>
          <a:p>
            <a:pPr algn="l">
              <a:spcAft>
                <a:spcPts val="600"/>
              </a:spcAft>
            </a:pPr>
            <a:r>
              <a:rPr sz="1400" b="1">
                <a:solidFill>
                  <a:srgbClr val="4E79A7"/>
                </a:solidFill>
                <a:latin typeface="Calibri"/>
              </a:rPr>
              <a:t>Dashboard</a:t>
            </a:r>
          </a:p>
        </p:txBody>
      </p:sp>
      <p:sp>
        <p:nvSpPr>
          <p:cNvPr id="16" name="TextBox 15"/>
          <p:cNvSpPr txBox="1"/>
          <p:nvPr/>
        </p:nvSpPr>
        <p:spPr>
          <a:xfrm>
            <a:off x="2560320" y="5303519"/>
            <a:ext cx="9144000" cy="731520"/>
          </a:xfrm>
          <a:prstGeom prst="rect">
            <a:avLst/>
          </a:prstGeom>
          <a:noFill/>
        </p:spPr>
        <p:txBody>
          <a:bodyPr wrap="square">
            <a:spAutoFit/>
          </a:bodyPr>
          <a:lstStyle/>
          <a:p>
            <a:pPr algn="l">
              <a:spcAft>
                <a:spcPts val="600"/>
              </a:spcAft>
            </a:pPr>
            <a:r>
              <a:rPr sz="1400" b="0">
                <a:solidFill>
                  <a:srgbClr val="1C2833"/>
                </a:solidFill>
                <a:latin typeface="Calibri"/>
              </a:rPr>
              <a:t>https://public.tableau.com/app/profile/abdulaziz.alabdulkareem/viz/digitaladoption/Tayseer-DigitalAdoption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TotalTime>
  <Words>1058</Words>
  <Application>Microsoft Office PowerPoint</Application>
  <PresentationFormat>شاشة عريضة</PresentationFormat>
  <Paragraphs>76</Paragraphs>
  <Slides>8</Slides>
  <Notes>8</Notes>
  <HiddenSlides>0</HiddenSlides>
  <MMClips>0</MMClips>
  <ScaleCrop>false</ScaleCrop>
  <HeadingPairs>
    <vt:vector size="6" baseType="variant">
      <vt:variant>
        <vt:lpstr>الخطوط المستخدمة</vt:lpstr>
      </vt:variant>
      <vt:variant>
        <vt:i4>2</vt:i4>
      </vt:variant>
      <vt:variant>
        <vt:lpstr>نسق</vt:lpstr>
      </vt:variant>
      <vt:variant>
        <vt:i4>1</vt:i4>
      </vt:variant>
      <vt:variant>
        <vt:lpstr>عناوين الشرائح</vt:lpstr>
      </vt:variant>
      <vt:variant>
        <vt:i4>8</vt:i4>
      </vt:variant>
    </vt:vector>
  </HeadingPairs>
  <TitlesOfParts>
    <vt:vector size="11" baseType="lpstr">
      <vt:lpstr>Arial</vt:lpstr>
      <vt:lpstr>Calibri</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عبدالعزيز العبدالكريم ID 446103513</cp:lastModifiedBy>
  <cp:revision>2</cp:revision>
  <dcterms:created xsi:type="dcterms:W3CDTF">2013-01-27T09:14:16Z</dcterms:created>
  <dcterms:modified xsi:type="dcterms:W3CDTF">2026-10-06T19:10:18Z</dcterms:modified>
  <cp:category/>
</cp:coreProperties>
</file>